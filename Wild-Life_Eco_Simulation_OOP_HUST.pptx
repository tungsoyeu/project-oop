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6/13/2026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C7D2D-53EE-EAEF-FCF9-F63987D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682B18-B986-1DEA-C14A-C9553435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02DFF-D931-C4B3-0D37-08CE3D971BBB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DAF9C-DA2A-821C-A21F-F1839B6CE862}"/>
              </a:ext>
            </a:extLst>
          </p:cNvPr>
          <p:cNvSpPr txBox="1"/>
          <p:nvPr/>
        </p:nvSpPr>
        <p:spPr>
          <a:xfrm>
            <a:off x="711200" y="1651000"/>
            <a:ext cx="10414000" cy="4257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B40000"/>
                </a:solidFill>
                <a:latin typeface="Arial" panose="020B0604020202020204" pitchFamily="34" charset="0"/>
              </a:rPr>
              <a:t>BÁO CÁO BÀI TẬP LỚN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69D2E-B99E-2822-C00D-4414A54E4EF2}"/>
              </a:ext>
            </a:extLst>
          </p:cNvPr>
          <p:cNvSpPr txBox="1"/>
          <p:nvPr/>
        </p:nvSpPr>
        <p:spPr>
          <a:xfrm>
            <a:off x="711200" y="3022600"/>
            <a:ext cx="78740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dirty="0">
                <a:solidFill>
                  <a:srgbClr val="373737"/>
                </a:solidFill>
                <a:latin typeface="Arial" panose="020B0604020202020204" pitchFamily="34" charset="0"/>
              </a:rPr>
              <a:t>Môn: Lập trình hướng đối tượng</a:t>
            </a:r>
            <a:endParaRPr lang="en-US" dirty="0">
              <a:solidFill>
                <a:srgbClr val="373737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D061-F764-2F00-3943-590E4B6C5763}"/>
              </a:ext>
            </a:extLst>
          </p:cNvPr>
          <p:cNvSpPr txBox="1"/>
          <p:nvPr/>
        </p:nvSpPr>
        <p:spPr>
          <a:xfrm>
            <a:off x="711200" y="3479800"/>
            <a:ext cx="9652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6E6E6E"/>
                </a:solidFill>
                <a:latin typeface="Arial" panose="020B0604020202020204" pitchFamily="34" charset="0"/>
              </a:rPr>
              <a:t>Hệ thống mô phỏng hệ sinh thái hoang dã bằng JavaFX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00DC5-E19D-39CB-5FE0-3CE50176EC01}"/>
              </a:ext>
            </a:extLst>
          </p:cNvPr>
          <p:cNvSpPr txBox="1"/>
          <p:nvPr/>
        </p:nvSpPr>
        <p:spPr>
          <a:xfrm>
            <a:off x="711200" y="4572000"/>
            <a:ext cx="6604000" cy="7950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1500">
                <a:solidFill>
                  <a:srgbClr val="000000"/>
                </a:solidFill>
                <a:latin typeface="Arial" panose="020B0604020202020204" pitchFamily="34" charset="0"/>
              </a:rPr>
              <a:t>Nhóm thực hiện: ...</a:t>
            </a:r>
          </a:p>
          <a:p>
            <a:r>
              <a:rPr lang="vi-VN" sz="1500">
                <a:solidFill>
                  <a:srgbClr val="000000"/>
                </a:solidFill>
                <a:latin typeface="Arial" panose="020B0604020202020204" pitchFamily="34" charset="0"/>
              </a:rPr>
              <a:t>Giảng viên hướng dẫn: ...</a:t>
            </a:r>
          </a:p>
          <a:p>
            <a:r>
              <a:rPr lang="vi-VN" sz="1500">
                <a:solidFill>
                  <a:srgbClr val="000000"/>
                </a:solidFill>
                <a:latin typeface="Arial" panose="020B0604020202020204" pitchFamily="34" charset="0"/>
              </a:rPr>
              <a:t>Lớp: ...</a:t>
            </a:r>
            <a:endParaRPr lang="en-US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4B243-40F2-D4E5-0F30-A31445CC79D7}"/>
              </a:ext>
            </a:extLst>
          </p:cNvPr>
          <p:cNvSpPr txBox="1"/>
          <p:nvPr/>
        </p:nvSpPr>
        <p:spPr>
          <a:xfrm>
            <a:off x="533400" y="349897"/>
            <a:ext cx="6604000" cy="53347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Đại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học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Bách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khoa Hà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Nội</a:t>
            </a:r>
            <a:endParaRPr lang="en-US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19C93-3E1E-291A-FC8C-1B593A126F1E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951F7B-2706-758D-6FE9-1C70F65FB5C0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1257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314C3-42B6-5F14-F6F6-2547478B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DC033B-7C29-C7A2-D464-29B91E3B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lục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6FF083-0DB7-C84A-9497-EDC8BA6BAE71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BE567-B0DE-1C51-DF22-5AE92BBDB4C1}"/>
              </a:ext>
            </a:extLst>
          </p:cNvPr>
          <p:cNvSpPr txBox="1"/>
          <p:nvPr/>
        </p:nvSpPr>
        <p:spPr>
          <a:xfrm>
            <a:off x="1143000" y="1587500"/>
            <a:ext cx="9652000" cy="239809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</a:rPr>
              <a:t>• Giới thiệu đề tài và mục tiêu mô phỏng</a:t>
            </a:r>
          </a:p>
          <a:p>
            <a:pPr>
              <a:spcAft>
                <a:spcPts val="700"/>
              </a:spcAft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</a:rPr>
              <a:t>• Dữ liệu mô phỏng và các thực thể trong hệ sinh thái</a:t>
            </a:r>
          </a:p>
          <a:p>
            <a:pPr>
              <a:spcAft>
                <a:spcPts val="700"/>
              </a:spcAft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</a:rPr>
              <a:t>• Kiến trúc package và sơ đồ lớp</a:t>
            </a:r>
          </a:p>
          <a:p>
            <a:pPr>
              <a:spcAft>
                <a:spcPts val="700"/>
              </a:spcAft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</a:rPr>
              <a:t>• Các kỹ thuật lập trình hướng đối tượng đã áp dụng</a:t>
            </a:r>
          </a:p>
          <a:p>
            <a:pPr>
              <a:spcAft>
                <a:spcPts val="700"/>
              </a:spcAft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</a:rPr>
              <a:t>• Thuật toán, công nghệ sử dụng và kiểm thử</a:t>
            </a:r>
          </a:p>
          <a:p>
            <a:pPr>
              <a:spcAft>
                <a:spcPts val="700"/>
              </a:spcAft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</a:rPr>
              <a:t>• Demo chương trình, kết luận và hướng phát triển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F886E-96C8-51CA-1E60-6EF0F448BA03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9BD71-7CB2-72AB-9994-8F2284B5C9C1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3559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0A89A-E065-B32D-FB27-148B8975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9C287-8907-29A4-F121-7CE7B9B92B77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DCFC0-FD7B-3596-0B1F-0743E8460150}"/>
              </a:ext>
            </a:extLst>
          </p:cNvPr>
          <p:cNvSpPr txBox="1"/>
          <p:nvPr/>
        </p:nvSpPr>
        <p:spPr>
          <a:xfrm>
            <a:off x="171682" y="129897"/>
            <a:ext cx="10922000" cy="53347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Giới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thiệu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đề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</a:rPr>
              <a:t>tài</a:t>
            </a:r>
            <a:endParaRPr lang="en-US" sz="2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8EB6B-3230-EBB5-87F7-CE84B28F3986}"/>
              </a:ext>
            </a:extLst>
          </p:cNvPr>
          <p:cNvSpPr txBox="1"/>
          <p:nvPr/>
        </p:nvSpPr>
        <p:spPr>
          <a:xfrm>
            <a:off x="533400" y="787400"/>
            <a:ext cx="10414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</a:rPr>
              <a:t>Wild-Life Eco Simulation </a:t>
            </a:r>
            <a:r>
              <a:rPr lang="en-US" sz="1100" dirty="0" err="1">
                <a:latin typeface="Arial" panose="020B0604020202020204" pitchFamily="34" charset="0"/>
              </a:rPr>
              <a:t>mô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phỏng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một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hệ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sinh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thái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hoang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dã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có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nhiều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loài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và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nhiều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loại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địa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hình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76220-8B18-F11B-8E4B-8B39B6E5F11F}"/>
              </a:ext>
            </a:extLst>
          </p:cNvPr>
          <p:cNvSpPr/>
          <p:nvPr/>
        </p:nvSpPr>
        <p:spPr>
          <a:xfrm>
            <a:off x="889000" y="1587500"/>
            <a:ext cx="4953000" cy="311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ABA25A-20F7-7C8E-5A08-7F270A10690C}"/>
              </a:ext>
            </a:extLst>
          </p:cNvPr>
          <p:cNvSpPr txBox="1"/>
          <p:nvPr/>
        </p:nvSpPr>
        <p:spPr>
          <a:xfrm>
            <a:off x="1016000" y="1689100"/>
            <a:ext cx="4699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Bối cảnh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FB395D-74EB-6FA2-F4AB-1F8240DC0834}"/>
              </a:ext>
            </a:extLst>
          </p:cNvPr>
          <p:cNvSpPr txBox="1"/>
          <p:nvPr/>
        </p:nvSpPr>
        <p:spPr>
          <a:xfrm>
            <a:off x="1016000" y="2044700"/>
            <a:ext cx="4699000" cy="112851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</a:rPr>
              <a:t>• Mô phỏng bản đồ 2D gồm đồng cỏ, rừng rậm, hồ nước, bùn, đá và bụi rậm.</a:t>
            </a:r>
          </a:p>
          <a:p>
            <a:pPr>
              <a:spcAft>
                <a:spcPts val="700"/>
              </a:spcAft>
            </a:pP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</a:rPr>
              <a:t>• Mỗi thực thể có trạng thái riêng và được cập nhật liên tục theo thời gian.</a:t>
            </a:r>
          </a:p>
          <a:p>
            <a:pPr>
              <a:spcAft>
                <a:spcPts val="700"/>
              </a:spcAft>
            </a:pPr>
            <a:r>
              <a:rPr lang="vi-VN" sz="1100" dirty="0">
                <a:solidFill>
                  <a:srgbClr val="000000"/>
                </a:solidFill>
                <a:latin typeface="Arial" panose="020B0604020202020204" pitchFamily="34" charset="0"/>
              </a:rPr>
              <a:t>• Người dùng có thể quan sát, thêm entity và thay đổi môi trường.</a:t>
            </a:r>
            <a:endParaRPr lang="en-US" sz="1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38FAF3-C290-7003-8C05-910EBAD0E045}"/>
              </a:ext>
            </a:extLst>
          </p:cNvPr>
          <p:cNvSpPr/>
          <p:nvPr/>
        </p:nvSpPr>
        <p:spPr>
          <a:xfrm>
            <a:off x="6350000" y="1587500"/>
            <a:ext cx="4953000" cy="311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C140D4-EB7A-B95E-1F34-B70A6655F62C}"/>
              </a:ext>
            </a:extLst>
          </p:cNvPr>
          <p:cNvSpPr txBox="1"/>
          <p:nvPr/>
        </p:nvSpPr>
        <p:spPr>
          <a:xfrm>
            <a:off x="6477000" y="1689100"/>
            <a:ext cx="4699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Mục tiêu 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C6136-24E6-EC90-5533-5E75DBDA7500}"/>
              </a:ext>
            </a:extLst>
          </p:cNvPr>
          <p:cNvSpPr txBox="1"/>
          <p:nvPr/>
        </p:nvSpPr>
        <p:spPr>
          <a:xfrm>
            <a:off x="6477000" y="2044700"/>
            <a:ext cx="4699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100">
                <a:solidFill>
                  <a:srgbClr val="000000"/>
                </a:solidFill>
                <a:latin typeface="Arial" panose="020B0604020202020204" pitchFamily="34" charset="0"/>
              </a:rPr>
              <a:t>• Thiết kế hệ thống lớp rõ ràng, dễ mở rộng.</a:t>
            </a:r>
          </a:p>
          <a:p>
            <a:pPr>
              <a:spcAft>
                <a:spcPts val="700"/>
              </a:spcAft>
            </a:pPr>
            <a:r>
              <a:rPr lang="vi-VN" sz="1100">
                <a:solidFill>
                  <a:srgbClr val="000000"/>
                </a:solidFill>
                <a:latin typeface="Arial" panose="020B0604020202020204" pitchFamily="34" charset="0"/>
              </a:rPr>
              <a:t>• Tách logic mô phỏng, hành vi và giao diện.</a:t>
            </a:r>
          </a:p>
          <a:p>
            <a:pPr>
              <a:spcAft>
                <a:spcPts val="700"/>
              </a:spcAft>
            </a:pPr>
            <a:r>
              <a:rPr lang="vi-VN" sz="1100">
                <a:solidFill>
                  <a:srgbClr val="000000"/>
                </a:solidFill>
                <a:latin typeface="Arial" panose="020B0604020202020204" pitchFamily="34" charset="0"/>
              </a:rPr>
              <a:t>• Thể hiện đóng gói, kế thừa, đa hình, trừu tượng hóa và pattern.</a:t>
            </a:r>
            <a:endParaRPr lang="en-US" sz="1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D603F-D39D-4C7A-0779-35B45D0F87E6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F6CC3-D496-CA1C-B446-E90215332434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033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2F6694-D7F4-4FB8-B87F-D090886C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3009A4-584E-599C-BDA9-E3209C32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Chức năng</a:t>
            </a:r>
            <a:br>
              <a:rPr lang="vi-VN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2536EB-B295-B11F-98CD-BBB86FF232EC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B8094-65B1-D39A-DD9E-144CDE89514B}"/>
              </a:ext>
            </a:extLst>
          </p:cNvPr>
          <p:cNvSpPr txBox="1"/>
          <p:nvPr/>
        </p:nvSpPr>
        <p:spPr>
          <a:xfrm>
            <a:off x="889000" y="1587500"/>
            <a:ext cx="10414000" cy="184665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Bản đồ 120 x 80 tile với 6 loại địa hình khác nhau.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Hệ sinh thái gồm thực vật, động vật ăn cỏ, thú săn mồi, sinh vật nước và thợ săn.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Động vật có máu, độ đói, độ khát, tốc độ, tầm nhìn, con mồi và kẻ thù.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Mùa trong năm ảnh hưởng đến sinh sản và tốc độ phát triển của thực vật.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Giao diện JavaFX hỗ trợ zoom, pan, thêm entity, đổi chế độ render và xem thống kê.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41FD-3D6B-CCEE-2F6A-CA450D7287CC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25B9AF-CFA4-952D-FE07-C327F6313C8A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7375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A466C-3E2D-C29E-0231-F2924DD9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851F7A-0913-C6B3-9D31-CE18F216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Dữ liệu mô phỏng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1A614-0EEF-ECE6-DB43-C4806ECE090D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484B-9840-C267-31C9-20FC42C776AC}"/>
              </a:ext>
            </a:extLst>
          </p:cNvPr>
          <p:cNvSpPr txBox="1"/>
          <p:nvPr/>
        </p:nvSpPr>
        <p:spPr>
          <a:xfrm>
            <a:off x="533400" y="787400"/>
            <a:ext cx="10414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1100" dirty="0">
                <a:latin typeface="Arial" panose="020B0604020202020204" pitchFamily="34" charset="0"/>
              </a:rPr>
              <a:t>Dữ liệu được khởi tạo trong chương trình để tạo môi trường ban đầu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3ABF5-8516-7176-C179-8F1E57B32972}"/>
              </a:ext>
            </a:extLst>
          </p:cNvPr>
          <p:cNvSpPr/>
          <p:nvPr/>
        </p:nvSpPr>
        <p:spPr>
          <a:xfrm>
            <a:off x="952500" y="1651000"/>
            <a:ext cx="2286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34971-46E1-044E-C9F6-C82A2FEA3D9A}"/>
              </a:ext>
            </a:extLst>
          </p:cNvPr>
          <p:cNvSpPr txBox="1"/>
          <p:nvPr/>
        </p:nvSpPr>
        <p:spPr>
          <a:xfrm>
            <a:off x="1054100" y="1752600"/>
            <a:ext cx="2082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400" b="1">
                <a:solidFill>
                  <a:srgbClr val="B40000"/>
                </a:solidFill>
                <a:latin typeface="Arial" panose="020B0604020202020204" pitchFamily="34" charset="0"/>
              </a:rPr>
              <a:t>9600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8711D-860A-48C4-E277-E51AA8220C93}"/>
              </a:ext>
            </a:extLst>
          </p:cNvPr>
          <p:cNvSpPr txBox="1"/>
          <p:nvPr/>
        </p:nvSpPr>
        <p:spPr>
          <a:xfrm>
            <a:off x="1054100" y="2222500"/>
            <a:ext cx="2082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ô bản đồ</a:t>
            </a:r>
          </a:p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120 x 80 tile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8CB5CB-1A49-DB3B-6FE5-789298211A43}"/>
              </a:ext>
            </a:extLst>
          </p:cNvPr>
          <p:cNvSpPr/>
          <p:nvPr/>
        </p:nvSpPr>
        <p:spPr>
          <a:xfrm>
            <a:off x="3619500" y="1651000"/>
            <a:ext cx="2286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30AFC-7979-0AAD-3F04-11135C90937B}"/>
              </a:ext>
            </a:extLst>
          </p:cNvPr>
          <p:cNvSpPr txBox="1"/>
          <p:nvPr/>
        </p:nvSpPr>
        <p:spPr>
          <a:xfrm>
            <a:off x="3721100" y="1752600"/>
            <a:ext cx="2082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400" b="1">
                <a:solidFill>
                  <a:srgbClr val="B4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9021E0-3735-7996-7DFB-F645E1457261}"/>
              </a:ext>
            </a:extLst>
          </p:cNvPr>
          <p:cNvSpPr txBox="1"/>
          <p:nvPr/>
        </p:nvSpPr>
        <p:spPr>
          <a:xfrm>
            <a:off x="3721100" y="2222500"/>
            <a:ext cx="2082800" cy="56425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loại địa hình</a:t>
            </a:r>
          </a:p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grassland, forest, water, mud, rock, bush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B360F5-0FF9-73BA-349E-A3A9286FE21F}"/>
              </a:ext>
            </a:extLst>
          </p:cNvPr>
          <p:cNvSpPr/>
          <p:nvPr/>
        </p:nvSpPr>
        <p:spPr>
          <a:xfrm>
            <a:off x="6286500" y="1651000"/>
            <a:ext cx="2286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2A4C4-6B26-AC78-2B66-DDB1C6522747}"/>
              </a:ext>
            </a:extLst>
          </p:cNvPr>
          <p:cNvSpPr txBox="1"/>
          <p:nvPr/>
        </p:nvSpPr>
        <p:spPr>
          <a:xfrm>
            <a:off x="6388100" y="1752600"/>
            <a:ext cx="2082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400" b="1">
                <a:solidFill>
                  <a:srgbClr val="B4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1507B-5847-3F1A-5CAF-4BEC9CDDF317}"/>
              </a:ext>
            </a:extLst>
          </p:cNvPr>
          <p:cNvSpPr txBox="1"/>
          <p:nvPr/>
        </p:nvSpPr>
        <p:spPr>
          <a:xfrm>
            <a:off x="6388100" y="2222500"/>
            <a:ext cx="2082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mùa trong năm</a:t>
            </a:r>
          </a:p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spring, summer, autumn, winter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215945-3F8B-9AA8-9C32-61F5AEE1EAC0}"/>
              </a:ext>
            </a:extLst>
          </p:cNvPr>
          <p:cNvSpPr/>
          <p:nvPr/>
        </p:nvSpPr>
        <p:spPr>
          <a:xfrm>
            <a:off x="8953500" y="1651000"/>
            <a:ext cx="2286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85AF0-E056-2B56-3317-0A4C403ED96C}"/>
              </a:ext>
            </a:extLst>
          </p:cNvPr>
          <p:cNvSpPr txBox="1"/>
          <p:nvPr/>
        </p:nvSpPr>
        <p:spPr>
          <a:xfrm>
            <a:off x="9055100" y="1752600"/>
            <a:ext cx="2082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2400" b="1">
                <a:solidFill>
                  <a:srgbClr val="B40000"/>
                </a:solidFill>
                <a:latin typeface="Arial" panose="020B0604020202020204" pitchFamily="34" charset="0"/>
              </a:rPr>
              <a:t>228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F449CA-8730-4777-AF9D-10F21084E631}"/>
              </a:ext>
            </a:extLst>
          </p:cNvPr>
          <p:cNvSpPr txBox="1"/>
          <p:nvPr/>
        </p:nvSpPr>
        <p:spPr>
          <a:xfrm>
            <a:off x="9055100" y="2222500"/>
            <a:ext cx="2082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thực thể ban đầu</a:t>
            </a:r>
          </a:p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150 thực vật + 78 động vật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D0FCB6-568A-A259-6FA8-37F0420439E2}"/>
              </a:ext>
            </a:extLst>
          </p:cNvPr>
          <p:cNvSpPr txBox="1"/>
          <p:nvPr/>
        </p:nvSpPr>
        <p:spPr>
          <a:xfrm>
            <a:off x="1143000" y="3619500"/>
            <a:ext cx="9906000" cy="102079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600" dirty="0">
                <a:solidFill>
                  <a:srgbClr val="000000"/>
                </a:solidFill>
                <a:latin typeface="Arial" panose="020B0604020202020204" pitchFamily="34" charset="0"/>
              </a:rPr>
              <a:t>• 120 cỏ, 30 cây ăn quả, 30 thỏ, 15 hươu, 5 sói, 2 hổ, 2 voi, 1 thợ săn, 15 cá, 8 vịt.</a:t>
            </a:r>
          </a:p>
          <a:p>
            <a:pPr>
              <a:spcAft>
                <a:spcPts val="700"/>
              </a:spcAft>
            </a:pPr>
            <a:r>
              <a:rPr lang="vi-VN" sz="1600" dirty="0">
                <a:solidFill>
                  <a:srgbClr val="000000"/>
                </a:solidFill>
                <a:latin typeface="Arial" panose="020B0604020202020204" pitchFamily="34" charset="0"/>
              </a:rPr>
              <a:t>• Dữ liệu tài nguyên gồm 9 ảnh sprite PNG và 6 tệp âm thanh WAV.</a:t>
            </a:r>
          </a:p>
          <a:p>
            <a:pPr>
              <a:spcAft>
                <a:spcPts val="700"/>
              </a:spcAft>
            </a:pPr>
            <a:r>
              <a:rPr lang="vi-VN" sz="1600" dirty="0">
                <a:solidFill>
                  <a:srgbClr val="000000"/>
                </a:solidFill>
                <a:latin typeface="Arial" panose="020B0604020202020204" pitchFamily="34" charset="0"/>
              </a:rPr>
              <a:t>• Dữ liệu mô phỏng giúp kiểm tra tương tác giữa thức ăn, con mồi, thú săn mồi và địa hình.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528CF-891B-F2E3-015D-4266FFDDC822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DB1EAA-2EB1-7C4A-5D50-B3657AAB6B20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5711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2A124B-0820-C606-F1A7-CFF0EA18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4278B3-D772-E3DA-E268-3D27BC2A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Biểu đồ phụ thuộc gói</a:t>
            </a:r>
            <a:br>
              <a:rPr lang="vi-VN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0B7B7-C420-81D2-06C0-F0F885D91683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DC6ED-9D88-649C-FF3D-40E50FD60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71" y="1183676"/>
            <a:ext cx="8562887" cy="51827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E4E345-0C8F-A5CD-5DB6-CFB5F68C74B0}"/>
              </a:ext>
            </a:extLst>
          </p:cNvPr>
          <p:cNvSpPr txBox="1"/>
          <p:nvPr/>
        </p:nvSpPr>
        <p:spPr>
          <a:xfrm>
            <a:off x="9482508" y="2149870"/>
            <a:ext cx="2201492" cy="274177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400" dirty="0">
                <a:solidFill>
                  <a:srgbClr val="000000"/>
                </a:solidFill>
                <a:latin typeface="Arial" panose="020B0604020202020204" pitchFamily="34" charset="0"/>
              </a:rPr>
              <a:t>• com.ecosim khởi động ứng dụng và tạo engine/view.</a:t>
            </a:r>
          </a:p>
          <a:p>
            <a:pPr>
              <a:spcAft>
                <a:spcPts val="700"/>
              </a:spcAft>
            </a:pPr>
            <a:r>
              <a:rPr lang="vi-VN" sz="1400" dirty="0">
                <a:solidFill>
                  <a:srgbClr val="000000"/>
                </a:solidFill>
                <a:latin typeface="Arial" panose="020B0604020202020204" pitchFamily="34" charset="0"/>
              </a:rPr>
              <a:t>• engine điều phối mô phỏng và phụ thuộc vào model, strategy.</a:t>
            </a:r>
          </a:p>
          <a:p>
            <a:pPr>
              <a:spcAft>
                <a:spcPts val="700"/>
              </a:spcAft>
            </a:pPr>
            <a:r>
              <a:rPr lang="vi-VN" sz="1400" dirty="0">
                <a:solidFill>
                  <a:srgbClr val="000000"/>
                </a:solidFill>
                <a:latin typeface="Arial" panose="020B0604020202020204" pitchFamily="34" charset="0"/>
              </a:rPr>
              <a:t>• view chỉ chịu trách nhiệm hiển thị và tương tác người dùng.</a:t>
            </a:r>
          </a:p>
          <a:p>
            <a:pPr>
              <a:spcAft>
                <a:spcPts val="700"/>
              </a:spcAft>
            </a:pPr>
            <a:r>
              <a:rPr lang="vi-VN" sz="1400" dirty="0">
                <a:solidFill>
                  <a:srgbClr val="000000"/>
                </a:solidFill>
                <a:latin typeface="Arial" panose="020B0604020202020204" pitchFamily="34" charset="0"/>
              </a:rPr>
              <a:t>• util chứa hằng số và vector dùng chung.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A6806-A25A-AB09-FC1A-659658F48609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CAF2C4-A8BC-A8CC-4F07-78A005EA7309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3535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B12046-AF63-EE01-752C-46D3693B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EC7C89-C8FF-2C52-861C-734157F8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Vai trò của các package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EE4AA-156B-59B4-2351-45E8E8DE5D09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0A771-F82F-0E68-B1B6-CD52B05B0B5A}"/>
              </a:ext>
            </a:extLst>
          </p:cNvPr>
          <p:cNvSpPr/>
          <p:nvPr/>
        </p:nvSpPr>
        <p:spPr>
          <a:xfrm>
            <a:off x="762000" y="1587500"/>
            <a:ext cx="3302000" cy="1651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EF083-7641-5F16-DD0C-E873BCF167C6}"/>
              </a:ext>
            </a:extLst>
          </p:cNvPr>
          <p:cNvSpPr txBox="1"/>
          <p:nvPr/>
        </p:nvSpPr>
        <p:spPr>
          <a:xfrm>
            <a:off x="889000" y="1689100"/>
            <a:ext cx="304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3B026-07B2-104D-C596-5CA99C68D616}"/>
              </a:ext>
            </a:extLst>
          </p:cNvPr>
          <p:cNvSpPr txBox="1"/>
          <p:nvPr/>
        </p:nvSpPr>
        <p:spPr>
          <a:xfrm>
            <a:off x="889000" y="2044700"/>
            <a:ext cx="3048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Entity hierarchy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WorldMap, Terrain, Season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Action và dữ liệu sinh học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FB9B5-8DC3-6ED7-6EC6-75CB84B205DB}"/>
              </a:ext>
            </a:extLst>
          </p:cNvPr>
          <p:cNvSpPr/>
          <p:nvPr/>
        </p:nvSpPr>
        <p:spPr>
          <a:xfrm>
            <a:off x="4445000" y="1587500"/>
            <a:ext cx="3302000" cy="1651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48513D-A741-DDB3-6A48-1A76A925F4FC}"/>
              </a:ext>
            </a:extLst>
          </p:cNvPr>
          <p:cNvSpPr txBox="1"/>
          <p:nvPr/>
        </p:nvSpPr>
        <p:spPr>
          <a:xfrm>
            <a:off x="4572000" y="1689100"/>
            <a:ext cx="304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2F9CE-C5AE-85E0-0408-556752468443}"/>
              </a:ext>
            </a:extLst>
          </p:cNvPr>
          <p:cNvSpPr txBox="1"/>
          <p:nvPr/>
        </p:nvSpPr>
        <p:spPr>
          <a:xfrm>
            <a:off x="4572000" y="2044700"/>
            <a:ext cx="3048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Simulation loop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Entity management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Season and population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28ED3-371B-170E-1D1F-8E84396F0C4A}"/>
              </a:ext>
            </a:extLst>
          </p:cNvPr>
          <p:cNvSpPr/>
          <p:nvPr/>
        </p:nvSpPr>
        <p:spPr>
          <a:xfrm>
            <a:off x="8128000" y="1587500"/>
            <a:ext cx="3302000" cy="1651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5CB1BC-0463-D932-D6D6-9B0BAB1A3209}"/>
              </a:ext>
            </a:extLst>
          </p:cNvPr>
          <p:cNvSpPr txBox="1"/>
          <p:nvPr/>
        </p:nvSpPr>
        <p:spPr>
          <a:xfrm>
            <a:off x="8255000" y="1689100"/>
            <a:ext cx="304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strategy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601328-1789-802E-5C1B-543DC81CF2BA}"/>
              </a:ext>
            </a:extLst>
          </p:cNvPr>
          <p:cNvSpPr txBox="1"/>
          <p:nvPr/>
        </p:nvSpPr>
        <p:spPr>
          <a:xfrm>
            <a:off x="8255000" y="2044700"/>
            <a:ext cx="3048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Passive, Scared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Hunter, Aggressive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Quyết định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0BE012-33A8-C823-45F0-650FBE953497}"/>
              </a:ext>
            </a:extLst>
          </p:cNvPr>
          <p:cNvSpPr/>
          <p:nvPr/>
        </p:nvSpPr>
        <p:spPr>
          <a:xfrm>
            <a:off x="762000" y="3810000"/>
            <a:ext cx="3302000" cy="1651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B70FA2-6B12-33B0-EDFF-6D973B5BE836}"/>
              </a:ext>
            </a:extLst>
          </p:cNvPr>
          <p:cNvSpPr txBox="1"/>
          <p:nvPr/>
        </p:nvSpPr>
        <p:spPr>
          <a:xfrm>
            <a:off x="889000" y="3911600"/>
            <a:ext cx="304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B1FE56-6BBE-7456-092C-1A11B3E9A4E3}"/>
              </a:ext>
            </a:extLst>
          </p:cNvPr>
          <p:cNvSpPr txBox="1"/>
          <p:nvPr/>
        </p:nvSpPr>
        <p:spPr>
          <a:xfrm>
            <a:off x="889000" y="4267200"/>
            <a:ext cx="3048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GameView, Camera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Renderer, SpriteRenderer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Canvas và sidebar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14A0B3-0C16-7F99-DE33-8DFD4E11EB0F}"/>
              </a:ext>
            </a:extLst>
          </p:cNvPr>
          <p:cNvSpPr/>
          <p:nvPr/>
        </p:nvSpPr>
        <p:spPr>
          <a:xfrm>
            <a:off x="4445000" y="3810000"/>
            <a:ext cx="3302000" cy="1651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479EE-0B67-C27C-12F1-7A0EE7644FA6}"/>
              </a:ext>
            </a:extLst>
          </p:cNvPr>
          <p:cNvSpPr txBox="1"/>
          <p:nvPr/>
        </p:nvSpPr>
        <p:spPr>
          <a:xfrm>
            <a:off x="4572000" y="3911600"/>
            <a:ext cx="304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sound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B2968E-4EA4-DB51-583E-553A986A4133}"/>
              </a:ext>
            </a:extLst>
          </p:cNvPr>
          <p:cNvSpPr txBox="1"/>
          <p:nvPr/>
        </p:nvSpPr>
        <p:spPr>
          <a:xfrm>
            <a:off x="4572000" y="4267200"/>
            <a:ext cx="3048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SoundManager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Âm thanh theo sự kiện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WAV resources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5ACA24-5961-422A-DB39-077FFF95E02B}"/>
              </a:ext>
            </a:extLst>
          </p:cNvPr>
          <p:cNvSpPr/>
          <p:nvPr/>
        </p:nvSpPr>
        <p:spPr>
          <a:xfrm>
            <a:off x="8128000" y="3810000"/>
            <a:ext cx="3302000" cy="1651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C19F90-3559-F721-8D9C-B96E0D19C18D}"/>
              </a:ext>
            </a:extLst>
          </p:cNvPr>
          <p:cNvSpPr txBox="1"/>
          <p:nvPr/>
        </p:nvSpPr>
        <p:spPr>
          <a:xfrm>
            <a:off x="8255000" y="3911600"/>
            <a:ext cx="304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util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92318F-8F9B-BE5D-0620-277E87D01BC4}"/>
              </a:ext>
            </a:extLst>
          </p:cNvPr>
          <p:cNvSpPr txBox="1"/>
          <p:nvPr/>
        </p:nvSpPr>
        <p:spPr>
          <a:xfrm>
            <a:off x="8255000" y="4267200"/>
            <a:ext cx="3048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Constants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Vector2D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Dùng chung toàn project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E9A623-22C8-6D76-2B99-15224C475737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262D1F-8BCF-736D-0D1B-FD3D41E0C9D0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420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9F976-9B26-C202-82C6-A1F4A0C8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86854D-6E2E-575B-1163-99F9A1DF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Biểu đồ lớp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CB0BE-1B74-D0B1-64EF-880B81B14C6E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708225-C6C9-D7FE-022C-01200286F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594" y="1194544"/>
            <a:ext cx="7608329" cy="5205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7B3977-2B3F-170E-76AA-14B09594DF9A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07F76-D314-9A87-33C5-868BFC4CDA61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0128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DD6E3-D7D4-43D2-D592-53E76C44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BB896-321C-0890-B0CF-071DEC2B0C71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DA1B2-CD39-A0D8-8DE9-3F05891F8359}"/>
              </a:ext>
            </a:extLst>
          </p:cNvPr>
          <p:cNvSpPr txBox="1"/>
          <p:nvPr/>
        </p:nvSpPr>
        <p:spPr>
          <a:xfrm>
            <a:off x="889000" y="1587500"/>
            <a:ext cx="10414000" cy="20313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700">
                <a:solidFill>
                  <a:srgbClr val="000000"/>
                </a:solidFill>
                <a:latin typeface="Arial" panose="020B0604020202020204" pitchFamily="34" charset="0"/>
              </a:rPr>
              <a:t>• Entity chứa thông tin chung: id, tên, vị trí, trạng thái sống, độ ưu tiên và kích thước.</a:t>
            </a:r>
          </a:p>
          <a:p>
            <a:pPr>
              <a:spcAft>
                <a:spcPts val="700"/>
              </a:spcAft>
            </a:pPr>
            <a:r>
              <a:rPr lang="vi-VN" sz="1700">
                <a:solidFill>
                  <a:srgbClr val="000000"/>
                </a:solidFill>
                <a:latin typeface="Arial" panose="020B0604020202020204" pitchFamily="34" charset="0"/>
              </a:rPr>
              <a:t>• Animal mở rộng Entity bằng máu, đói, khát, tốc độ, trạng thái và strategy hiện tại.</a:t>
            </a:r>
          </a:p>
          <a:p>
            <a:pPr>
              <a:spcAft>
                <a:spcPts val="700"/>
              </a:spcAft>
            </a:pPr>
            <a:r>
              <a:rPr lang="vi-VN" sz="1700">
                <a:solidFill>
                  <a:srgbClr val="000000"/>
                </a:solidFill>
                <a:latin typeface="Arial" panose="020B0604020202020204" pitchFamily="34" charset="0"/>
              </a:rPr>
              <a:t>• Plant mở rộng Entity bằng logic tăng trưởng, bị ăn và lan rộng.</a:t>
            </a:r>
          </a:p>
          <a:p>
            <a:pPr>
              <a:spcAft>
                <a:spcPts val="700"/>
              </a:spcAft>
            </a:pPr>
            <a:r>
              <a:rPr lang="vi-VN" sz="1700">
                <a:solidFill>
                  <a:srgbClr val="000000"/>
                </a:solidFill>
                <a:latin typeface="Arial" panose="020B0604020202020204" pitchFamily="34" charset="0"/>
              </a:rPr>
              <a:t>• SimulationEngine điều phối vòng lặp; EntityManager quản lý danh sách thực thể; SeasonManager quản lý mùa.</a:t>
            </a:r>
          </a:p>
          <a:p>
            <a:pPr>
              <a:spcAft>
                <a:spcPts val="700"/>
              </a:spcAft>
            </a:pPr>
            <a:r>
              <a:rPr lang="vi-VN" sz="1700">
                <a:solidFill>
                  <a:srgbClr val="000000"/>
                </a:solidFill>
                <a:latin typeface="Arial" panose="020B0604020202020204" pitchFamily="34" charset="0"/>
              </a:rPr>
              <a:t>• Renderer là interface giúp đổi giữa BasicRenderer và SpriteRenderer mà không sửa engine.</a:t>
            </a:r>
            <a:endParaRPr lang="en-US" sz="17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64123C-27A8-1FEB-11AB-19E3AD0EFAB1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4F76F-4E94-A40A-9034-98278C81FE48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3ED1282-366B-0A86-6A69-F5A82208B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138" y="112713"/>
            <a:ext cx="11515725" cy="4903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Giải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thích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thiết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kế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lớp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65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FC8B0D-C8BB-CF8F-00CB-BA1D5A16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45AFF-BAF4-43BA-924D-C1D48B9802C7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C0CC9-6636-8D30-7668-03EF7B4D6BD1}"/>
              </a:ext>
            </a:extLst>
          </p:cNvPr>
          <p:cNvSpPr/>
          <p:nvPr/>
        </p:nvSpPr>
        <p:spPr>
          <a:xfrm>
            <a:off x="635000" y="1524000"/>
            <a:ext cx="3175000" cy="184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F4032-C498-BAD9-003B-8F06B02736D7}"/>
              </a:ext>
            </a:extLst>
          </p:cNvPr>
          <p:cNvSpPr txBox="1"/>
          <p:nvPr/>
        </p:nvSpPr>
        <p:spPr>
          <a:xfrm>
            <a:off x="762000" y="1625600"/>
            <a:ext cx="2921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Đóng gói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7FC289-C4B3-7ACA-755C-B2CA43A69F21}"/>
              </a:ext>
            </a:extLst>
          </p:cNvPr>
          <p:cNvSpPr txBox="1"/>
          <p:nvPr/>
        </p:nvSpPr>
        <p:spPr>
          <a:xfrm>
            <a:off x="762000" y="1981200"/>
            <a:ext cx="2921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Thuộc tính private/protected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Getter/setter kiểm soát trạng thái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Giảm truy cập trực tiếp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545FC1-D5F0-7D39-DEFC-4C0530A4EDEB}"/>
              </a:ext>
            </a:extLst>
          </p:cNvPr>
          <p:cNvSpPr/>
          <p:nvPr/>
        </p:nvSpPr>
        <p:spPr>
          <a:xfrm>
            <a:off x="4508500" y="1524000"/>
            <a:ext cx="3175000" cy="184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3F940-9844-4BBD-ECDD-C5508CBA395F}"/>
              </a:ext>
            </a:extLst>
          </p:cNvPr>
          <p:cNvSpPr txBox="1"/>
          <p:nvPr/>
        </p:nvSpPr>
        <p:spPr>
          <a:xfrm>
            <a:off x="4635500" y="1625600"/>
            <a:ext cx="2921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Kế thừa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C5DD0-B38E-0921-D9BC-00E36859ACE8}"/>
              </a:ext>
            </a:extLst>
          </p:cNvPr>
          <p:cNvSpPr txBox="1"/>
          <p:nvPr/>
        </p:nvSpPr>
        <p:spPr>
          <a:xfrm>
            <a:off x="4635500" y="1981200"/>
            <a:ext cx="2921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Animal, Plant kế thừa Entity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Các loài kế thừa Animal/Plant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Tái sử dụng logic chung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E6106-2C90-1669-DE89-B0F184DA21E5}"/>
              </a:ext>
            </a:extLst>
          </p:cNvPr>
          <p:cNvSpPr/>
          <p:nvPr/>
        </p:nvSpPr>
        <p:spPr>
          <a:xfrm>
            <a:off x="8382000" y="1524000"/>
            <a:ext cx="3175000" cy="184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D4EA5-B443-B5BE-25AE-7CF64F59988B}"/>
              </a:ext>
            </a:extLst>
          </p:cNvPr>
          <p:cNvSpPr txBox="1"/>
          <p:nvPr/>
        </p:nvSpPr>
        <p:spPr>
          <a:xfrm>
            <a:off x="8509000" y="1625600"/>
            <a:ext cx="2921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Đa hình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ED5204-E881-77C1-0A5A-9098A013E51C}"/>
              </a:ext>
            </a:extLst>
          </p:cNvPr>
          <p:cNvSpPr txBox="1"/>
          <p:nvPr/>
        </p:nvSpPr>
        <p:spPr>
          <a:xfrm>
            <a:off x="8509000" y="1981200"/>
            <a:ext cx="2921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Danh sách Entity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Renderer interface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SurvivalStrategy interface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196A3-1DEF-40C8-46EA-72C8C34408B3}"/>
              </a:ext>
            </a:extLst>
          </p:cNvPr>
          <p:cNvSpPr/>
          <p:nvPr/>
        </p:nvSpPr>
        <p:spPr>
          <a:xfrm>
            <a:off x="635000" y="3937000"/>
            <a:ext cx="3175000" cy="184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D26C4-1608-99C3-46F3-041D58B56441}"/>
              </a:ext>
            </a:extLst>
          </p:cNvPr>
          <p:cNvSpPr txBox="1"/>
          <p:nvPr/>
        </p:nvSpPr>
        <p:spPr>
          <a:xfrm>
            <a:off x="762000" y="4038600"/>
            <a:ext cx="2921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1400" b="1">
                <a:solidFill>
                  <a:srgbClr val="B40000"/>
                </a:solidFill>
                <a:latin typeface="Arial" panose="020B0604020202020204" pitchFamily="34" charset="0"/>
              </a:rPr>
              <a:t>Trừu tượng hóa</a:t>
            </a:r>
            <a:endParaRPr lang="en-US" sz="1400" b="1">
              <a:solidFill>
                <a:srgbClr val="B4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1CFD3-8DAA-DFAB-A195-5BE6B8C1ABA5}"/>
              </a:ext>
            </a:extLst>
          </p:cNvPr>
          <p:cNvSpPr txBox="1"/>
          <p:nvPr/>
        </p:nvSpPr>
        <p:spPr>
          <a:xfrm>
            <a:off x="762000" y="4394200"/>
            <a:ext cx="2921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Abstract class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Interface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Che giấu chi tiết cài đặt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916C34-6351-333C-EB79-AF87A445C50F}"/>
              </a:ext>
            </a:extLst>
          </p:cNvPr>
          <p:cNvSpPr/>
          <p:nvPr/>
        </p:nvSpPr>
        <p:spPr>
          <a:xfrm>
            <a:off x="4508500" y="3937000"/>
            <a:ext cx="3175000" cy="184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91FE8-CDD6-965E-A37D-722E8151626B}"/>
              </a:ext>
            </a:extLst>
          </p:cNvPr>
          <p:cNvSpPr txBox="1"/>
          <p:nvPr/>
        </p:nvSpPr>
        <p:spPr>
          <a:xfrm>
            <a:off x="4635500" y="4038600"/>
            <a:ext cx="2921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Strategy Pattern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0273AC-5584-1CD9-4D10-E0AC9F4C2276}"/>
              </a:ext>
            </a:extLst>
          </p:cNvPr>
          <p:cNvSpPr txBox="1"/>
          <p:nvPr/>
        </p:nvSpPr>
        <p:spPr>
          <a:xfrm>
            <a:off x="4635500" y="4394200"/>
            <a:ext cx="2921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Passive/Scared/Hunter/Aggressive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Đổi hành vi runtime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Dễ thêm strategy mới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570A50-7F4B-E4DF-F7FD-53A2D2E26E12}"/>
              </a:ext>
            </a:extLst>
          </p:cNvPr>
          <p:cNvSpPr/>
          <p:nvPr/>
        </p:nvSpPr>
        <p:spPr>
          <a:xfrm>
            <a:off x="8382000" y="3937000"/>
            <a:ext cx="3175000" cy="18415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70416-24BD-D083-33BA-B53120C450A4}"/>
              </a:ext>
            </a:extLst>
          </p:cNvPr>
          <p:cNvSpPr txBox="1"/>
          <p:nvPr/>
        </p:nvSpPr>
        <p:spPr>
          <a:xfrm>
            <a:off x="8509000" y="4038600"/>
            <a:ext cx="2921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Factory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C22691-475E-0580-A129-99DB6DB5CCBB}"/>
              </a:ext>
            </a:extLst>
          </p:cNvPr>
          <p:cNvSpPr txBox="1"/>
          <p:nvPr/>
        </p:nvSpPr>
        <p:spPr>
          <a:xfrm>
            <a:off x="8509000" y="4394200"/>
            <a:ext cx="2921000" cy="7899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AnimalReproductionFactory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Tạo con non theo loài</a:t>
            </a:r>
          </a:p>
          <a:p>
            <a:pPr>
              <a:spcAft>
                <a:spcPts val="700"/>
              </a:spcAft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• Gom logic sinh sản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1A16DD-B6C1-F557-CCA8-CBC75CA89CF8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B8D3B4-1D18-F079-DF81-63B11714BC17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81CEC9C6-A76C-78AC-E8CF-73DEEFDE7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138" y="112713"/>
            <a:ext cx="11515725" cy="4903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Kỹ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thuật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OOP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đã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áp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dụng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78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FE198-E2A5-54B6-1962-0EAB6D75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49C83-9397-01B6-059A-766B8D27CB64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A0FF9C-8C45-FD56-DD14-C7475FFCEDC6}"/>
              </a:ext>
            </a:extLst>
          </p:cNvPr>
          <p:cNvSpPr/>
          <p:nvPr/>
        </p:nvSpPr>
        <p:spPr>
          <a:xfrm>
            <a:off x="1016000" y="1651000"/>
            <a:ext cx="457200" cy="457200"/>
          </a:xfrm>
          <a:prstGeom prst="ellipse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23CA1-5AB8-4CBD-FAEB-AA678DF76F48}"/>
              </a:ext>
            </a:extLst>
          </p:cNvPr>
          <p:cNvSpPr txBox="1"/>
          <p:nvPr/>
        </p:nvSpPr>
        <p:spPr>
          <a:xfrm>
            <a:off x="1041400" y="1689100"/>
            <a:ext cx="4064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530D4-30AE-E008-ACF2-1CA5E23C3EFC}"/>
              </a:ext>
            </a:extLst>
          </p:cNvPr>
          <p:cNvSpPr txBox="1"/>
          <p:nvPr/>
        </p:nvSpPr>
        <p:spPr>
          <a:xfrm>
            <a:off x="1600200" y="1587500"/>
            <a:ext cx="39878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1400" b="1">
                <a:solidFill>
                  <a:srgbClr val="B40000"/>
                </a:solidFill>
                <a:latin typeface="Arial" panose="020B0604020202020204" pitchFamily="34" charset="0"/>
              </a:rPr>
              <a:t>Nhận dữ liệu môi trường</a:t>
            </a:r>
            <a:endParaRPr lang="en-US" sz="1400" b="1">
              <a:solidFill>
                <a:srgbClr val="B4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F8420C-4AE8-6C55-2138-626770BC2FA3}"/>
              </a:ext>
            </a:extLst>
          </p:cNvPr>
          <p:cNvSpPr txBox="1"/>
          <p:nvPr/>
        </p:nvSpPr>
        <p:spPr>
          <a:xfrm>
            <a:off x="1600200" y="1917700"/>
            <a:ext cx="3987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Animal gửi trạng thái bản thân, danh sách entity gần đó và WorldMap cho strategy.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BC3D436-8770-0E6D-CC76-0D9C7C627F6F}"/>
              </a:ext>
            </a:extLst>
          </p:cNvPr>
          <p:cNvSpPr/>
          <p:nvPr/>
        </p:nvSpPr>
        <p:spPr>
          <a:xfrm>
            <a:off x="1016000" y="3111500"/>
            <a:ext cx="457200" cy="457200"/>
          </a:xfrm>
          <a:prstGeom prst="ellipse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92FF43-2D83-09CA-5D0F-4C3CF434865E}"/>
              </a:ext>
            </a:extLst>
          </p:cNvPr>
          <p:cNvSpPr txBox="1"/>
          <p:nvPr/>
        </p:nvSpPr>
        <p:spPr>
          <a:xfrm>
            <a:off x="1041400" y="3149600"/>
            <a:ext cx="4064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D4890-1A22-0C90-7001-3072849329A2}"/>
              </a:ext>
            </a:extLst>
          </p:cNvPr>
          <p:cNvSpPr txBox="1"/>
          <p:nvPr/>
        </p:nvSpPr>
        <p:spPr>
          <a:xfrm>
            <a:off x="1600200" y="3048000"/>
            <a:ext cx="39878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Quyết định hành động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674030-EF60-B1AD-BA9C-9D8C58785E60}"/>
              </a:ext>
            </a:extLst>
          </p:cNvPr>
          <p:cNvSpPr txBox="1"/>
          <p:nvPr/>
        </p:nvSpPr>
        <p:spPr>
          <a:xfrm>
            <a:off x="1600200" y="3366036"/>
            <a:ext cx="3987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000">
                <a:solidFill>
                  <a:srgbClr val="373737"/>
                </a:solidFill>
                <a:latin typeface="Arial" panose="020B0604020202020204" pitchFamily="34" charset="0"/>
              </a:rPr>
              <a:t>Strategy trả về Action: WANDER, MOVE_TO, EAT, DRINK, ATTACK, FLEE hoặc HIDE.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978DBB-53CD-3C05-B22A-1A2B32374995}"/>
              </a:ext>
            </a:extLst>
          </p:cNvPr>
          <p:cNvSpPr/>
          <p:nvPr/>
        </p:nvSpPr>
        <p:spPr>
          <a:xfrm>
            <a:off x="1016000" y="4572000"/>
            <a:ext cx="457200" cy="457200"/>
          </a:xfrm>
          <a:prstGeom prst="ellipse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F7C26-0B27-F1EC-1A3B-4C2D61002891}"/>
              </a:ext>
            </a:extLst>
          </p:cNvPr>
          <p:cNvSpPr txBox="1"/>
          <p:nvPr/>
        </p:nvSpPr>
        <p:spPr>
          <a:xfrm>
            <a:off x="1041400" y="4610100"/>
            <a:ext cx="4064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1F5690-FBC5-C4FE-8FC1-8A88604AE75E}"/>
              </a:ext>
            </a:extLst>
          </p:cNvPr>
          <p:cNvSpPr txBox="1"/>
          <p:nvPr/>
        </p:nvSpPr>
        <p:spPr>
          <a:xfrm>
            <a:off x="1600200" y="4508500"/>
            <a:ext cx="39878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Thực thi hành động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817DF-B6C7-89AD-FFC9-D2DD0872B835}"/>
              </a:ext>
            </a:extLst>
          </p:cNvPr>
          <p:cNvSpPr txBox="1"/>
          <p:nvPr/>
        </p:nvSpPr>
        <p:spPr>
          <a:xfrm>
            <a:off x="1600200" y="4838700"/>
            <a:ext cx="39878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1000">
                <a:solidFill>
                  <a:srgbClr val="373737"/>
                </a:solidFill>
                <a:latin typeface="Arial" panose="020B0604020202020204" pitchFamily="34" charset="0"/>
              </a:rPr>
              <a:t>Animal.executeAction() xử lý di chuyển, ăn, uống nước, tấn công hoặc chạy trốn.</a:t>
            </a:r>
            <a:endParaRPr lang="en-US" sz="1000">
              <a:solidFill>
                <a:srgbClr val="373737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380F5F-FA88-E58A-4C85-21012350B9D5}"/>
              </a:ext>
            </a:extLst>
          </p:cNvPr>
          <p:cNvSpPr/>
          <p:nvPr/>
        </p:nvSpPr>
        <p:spPr>
          <a:xfrm>
            <a:off x="6604000" y="1714500"/>
            <a:ext cx="4572000" cy="3302000"/>
          </a:xfrm>
          <a:prstGeom prst="rect">
            <a:avLst/>
          </a:prstGeom>
          <a:solidFill>
            <a:srgbClr val="F2F2F2"/>
          </a:solidFill>
          <a:ln w="15875"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BC00F6-D57C-8CFE-75CC-28D952E2D802}"/>
              </a:ext>
            </a:extLst>
          </p:cNvPr>
          <p:cNvSpPr txBox="1"/>
          <p:nvPr/>
        </p:nvSpPr>
        <p:spPr>
          <a:xfrm>
            <a:off x="6731000" y="1816100"/>
            <a:ext cx="4318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400" b="1">
                <a:solidFill>
                  <a:srgbClr val="B40000"/>
                </a:solidFill>
                <a:latin typeface="Arial" panose="020B0604020202020204" pitchFamily="34" charset="0"/>
              </a:rPr>
              <a:t>Lợi ích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08714E-5AE4-F9DF-100D-F306B6D6F3D7}"/>
              </a:ext>
            </a:extLst>
          </p:cNvPr>
          <p:cNvSpPr txBox="1"/>
          <p:nvPr/>
        </p:nvSpPr>
        <p:spPr>
          <a:xfrm>
            <a:off x="6731000" y="2171700"/>
            <a:ext cx="4318000" cy="95923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100">
                <a:solidFill>
                  <a:srgbClr val="000000"/>
                </a:solidFill>
                <a:latin typeface="Arial" panose="020B0604020202020204" pitchFamily="34" charset="0"/>
              </a:rPr>
              <a:t>• Không cần viết toàn bộ AI trong từng lớp động vật.</a:t>
            </a:r>
          </a:p>
          <a:p>
            <a:pPr>
              <a:spcAft>
                <a:spcPts val="700"/>
              </a:spcAft>
            </a:pPr>
            <a:r>
              <a:rPr lang="vi-VN" sz="1100">
                <a:solidFill>
                  <a:srgbClr val="000000"/>
                </a:solidFill>
                <a:latin typeface="Arial" panose="020B0604020202020204" pitchFamily="34" charset="0"/>
              </a:rPr>
              <a:t>• Có thể đổi strategy khi runtime, ví dụ thỏ/hươu quá đói chuyển sang AggressiveStrategy.</a:t>
            </a:r>
          </a:p>
          <a:p>
            <a:pPr>
              <a:spcAft>
                <a:spcPts val="700"/>
              </a:spcAft>
            </a:pPr>
            <a:r>
              <a:rPr lang="vi-VN" sz="1100">
                <a:solidFill>
                  <a:srgbClr val="000000"/>
                </a:solidFill>
                <a:latin typeface="Arial" panose="020B0604020202020204" pitchFamily="34" charset="0"/>
              </a:rPr>
              <a:t>• Dễ bổ sung hành vi mới mà ít ảnh hưởng code cũ.</a:t>
            </a:r>
            <a:endParaRPr lang="en-US" sz="11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5D2930-3FD9-AE2D-245E-1133118AC5A4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F8E03D-0528-E6AE-C577-6740C36DF46C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FB88F5F5-5F4C-B364-CDA8-245A3CC156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138" y="112713"/>
            <a:ext cx="11515725" cy="4903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sv-SE" b="1" dirty="0">
                <a:solidFill>
                  <a:srgbClr val="FFFFFF"/>
                </a:solidFill>
                <a:latin typeface="Arial" panose="020B0604020202020204" pitchFamily="34" charset="0"/>
              </a:rPr>
              <a:t>Strategy Pattern trong hành vi động vật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34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0BE83-F777-2722-586B-F91FBB53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3D701-FB5B-4B9F-A765-398EDA1F085C}"/>
              </a:ext>
            </a:extLst>
          </p:cNvPr>
          <p:cNvSpPr/>
          <p:nvPr/>
        </p:nvSpPr>
        <p:spPr>
          <a:xfrm>
            <a:off x="533400" y="1016000"/>
            <a:ext cx="11125200" cy="508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56E94-76E0-6A65-8CD4-93C2EDFBAF89}"/>
              </a:ext>
            </a:extLst>
          </p:cNvPr>
          <p:cNvSpPr txBox="1"/>
          <p:nvPr/>
        </p:nvSpPr>
        <p:spPr>
          <a:xfrm>
            <a:off x="889000" y="1587500"/>
            <a:ext cx="10414000" cy="184665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Simulation loop theo deltaTime giúp mô phỏng ổn định theo thời gian.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Tìm entity gần bằng cách lọc các thực thể sống trong bán kính tầm nhìn.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Di chuyển dùng vector, hệ số địa hình, gia tốc và giảm tốc khi gần mục tiêu.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Va chạm mềm dùng priority để thực thể ưu tiên thấp nhường đường.</a:t>
            </a:r>
          </a:p>
          <a:p>
            <a:pPr>
              <a:spcAft>
                <a:spcPts val="700"/>
              </a:spcAft>
            </a:pPr>
            <a:r>
              <a:rPr lang="vi-VN">
                <a:solidFill>
                  <a:srgbClr val="000000"/>
                </a:solidFill>
                <a:latin typeface="Arial" panose="020B0604020202020204" pitchFamily="34" charset="0"/>
              </a:rPr>
              <a:t>• Sinh sản mùa xuân dựa trên điều kiện sức khỏe, độ đói, độ khát, tuổi và xác suất.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A9D96-03A3-BDE7-FAE7-535A8F57D788}"/>
              </a:ext>
            </a:extLst>
          </p:cNvPr>
          <p:cNvSpPr txBox="1"/>
          <p:nvPr/>
        </p:nvSpPr>
        <p:spPr>
          <a:xfrm>
            <a:off x="533400" y="6502400"/>
            <a:ext cx="7874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vi-VN" sz="800">
                <a:solidFill>
                  <a:srgbClr val="6E6E6E"/>
                </a:solidFill>
                <a:latin typeface="Arial" panose="020B0604020202020204" pitchFamily="34" charset="0"/>
              </a:rPr>
              <a:t>Lập trình hướng đối tượng | Wild-Life Eco Simulation</a:t>
            </a:r>
            <a:endParaRPr lang="en-US" sz="800">
              <a:solidFill>
                <a:srgbClr val="6E6E6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FBCD6B-644D-A514-C188-B54015C0F65E}"/>
              </a:ext>
            </a:extLst>
          </p:cNvPr>
          <p:cNvSpPr txBox="1"/>
          <p:nvPr/>
        </p:nvSpPr>
        <p:spPr>
          <a:xfrm>
            <a:off x="11303000" y="6502400"/>
            <a:ext cx="381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8E8A01-3D6C-8A0D-1E94-28AA9654B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138" y="112713"/>
            <a:ext cx="11515725" cy="4903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Thuật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toán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và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xử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lý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nổi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</a:rPr>
              <a:t>bật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2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89AE0B-1AB0-ACC9-0143-5CF69C60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DF26C6-C657-B4AA-0A0D-90433EA6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7932AD5-AE97-621E-4BD9-9E1CDC731033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B0BB371-C4DB-5E60-73D7-A45B59ADFA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93D4B-8F05-A07C-B304-1EDEA56B65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B0B0A-51B6-4E14-98A9-EB771C598E3E}"/>
              </a:ext>
            </a:extLst>
          </p:cNvPr>
          <p:cNvSpPr txBox="1"/>
          <p:nvPr/>
        </p:nvSpPr>
        <p:spPr>
          <a:xfrm>
            <a:off x="0" y="2413000"/>
            <a:ext cx="12192000" cy="77970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</a:rPr>
              <a:t>THANK YOU!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CD3A0-94B4-0C19-820D-BBD7AE4F73A6}"/>
              </a:ext>
            </a:extLst>
          </p:cNvPr>
          <p:cNvSpPr txBox="1"/>
          <p:nvPr/>
        </p:nvSpPr>
        <p:spPr>
          <a:xfrm>
            <a:off x="0" y="3429000"/>
            <a:ext cx="12192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Wild-Life Eco Simulation | Lập trình hướng đối tượng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1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1211</Words>
  <Application>Microsoft Office PowerPoint</Application>
  <PresentationFormat>Widescreen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PowerPoint Presentation</vt:lpstr>
      <vt:lpstr>Mục lục</vt:lpstr>
      <vt:lpstr>PowerPoint Presentation</vt:lpstr>
      <vt:lpstr>Chức năng </vt:lpstr>
      <vt:lpstr>Dữ liệu mô phỏng</vt:lpstr>
      <vt:lpstr>Biểu đồ phụ thuộc gói </vt:lpstr>
      <vt:lpstr>Vai trò của các package</vt:lpstr>
      <vt:lpstr>Biểu đồ lớp</vt:lpstr>
      <vt:lpstr>Giải thích thiết kế lớp</vt:lpstr>
      <vt:lpstr>Kỹ thuật OOP đã áp dụng</vt:lpstr>
      <vt:lpstr>Strategy Pattern trong hành vi động vật</vt:lpstr>
      <vt:lpstr>Thuật toán và xử lý nổi bật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Tung Tran</cp:lastModifiedBy>
  <cp:revision>12</cp:revision>
  <dcterms:created xsi:type="dcterms:W3CDTF">2021-05-28T04:32:29Z</dcterms:created>
  <dcterms:modified xsi:type="dcterms:W3CDTF">2026-06-13T10:43:49Z</dcterms:modified>
</cp:coreProperties>
</file>